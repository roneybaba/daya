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Tahoma"/>
      <p:regular r:id="rId26"/>
      <p:bold r:id="rId27"/>
    </p:embeddedFont>
    <p:embeddedFont>
      <p:font typeface="Arial Black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39">
          <p15:clr>
            <a:srgbClr val="747775"/>
          </p15:clr>
        </p15:guide>
        <p15:guide id="2" pos="29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343121-7992-4DB3-AC6C-D56627BB9666}">
  <a:tblStyle styleId="{65343121-7992-4DB3-AC6C-D56627BB966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39" orient="horz"/>
        <p:guide pos="291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Tahoma-regular.fntdata"/><Relationship Id="rId25" Type="http://schemas.openxmlformats.org/officeDocument/2006/relationships/slide" Target="slides/slide19.xml"/><Relationship Id="rId28" Type="http://schemas.openxmlformats.org/officeDocument/2006/relationships/font" Target="fonts/ArialBlack-regular.fntdata"/><Relationship Id="rId27" Type="http://schemas.openxmlformats.org/officeDocument/2006/relationships/font" Target="fonts/Tahom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3a124f3cf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e3a124f3cf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3a124f3cf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e3a124f3cf_1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3a124f3cf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e3a124f3cf_1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3a124f3cf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e3a124f3cf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3a124f3cf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e3a124f3cf_1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3a124f3cf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e3a124f3cf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3a124f3cf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e3a124f3cf_1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3a124f3cf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e3a124f3cf_1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3a124f3cf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e3a124f3cf_1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3a124f3cf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e3a124f3cf_1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3a124f3cf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e3a124f3cf_1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3a124f3cf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e3a124f3cf_1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3a124f3cf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e3a124f3cf_1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 txBox="1"/>
          <p:nvPr>
            <p:ph type="title"/>
          </p:nvPr>
        </p:nvSpPr>
        <p:spPr>
          <a:xfrm>
            <a:off x="2304541" y="395284"/>
            <a:ext cx="4534918" cy="1250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3500">
                <a:solidFill>
                  <a:srgbClr val="3F3C3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" type="body"/>
          </p:nvPr>
        </p:nvSpPr>
        <p:spPr>
          <a:xfrm>
            <a:off x="1257278" y="2020109"/>
            <a:ext cx="6895147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1600">
                <a:solidFill>
                  <a:srgbClr val="535353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9" name="Google Shape;39;p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0" name="Google Shape;40;p2"/>
          <p:cNvSpPr txBox="1"/>
          <p:nvPr>
            <p:ph idx="12" type="sldNum"/>
          </p:nvPr>
        </p:nvSpPr>
        <p:spPr>
          <a:xfrm>
            <a:off x="8216195" y="4503439"/>
            <a:ext cx="417829" cy="449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 txBox="1"/>
          <p:nvPr>
            <p:ph type="ctrTitle"/>
          </p:nvPr>
        </p:nvSpPr>
        <p:spPr>
          <a:xfrm>
            <a:off x="3045258" y="705281"/>
            <a:ext cx="3053483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3500">
                <a:solidFill>
                  <a:srgbClr val="3F3C3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0" i="0" sz="1600">
                <a:solidFill>
                  <a:srgbClr val="535353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5" name="Google Shape;45;p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6" name="Google Shape;46;p3"/>
          <p:cNvSpPr txBox="1"/>
          <p:nvPr>
            <p:ph idx="12" type="sldNum"/>
          </p:nvPr>
        </p:nvSpPr>
        <p:spPr>
          <a:xfrm>
            <a:off x="8216195" y="4503439"/>
            <a:ext cx="417829" cy="449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"/>
          <p:cNvSpPr txBox="1"/>
          <p:nvPr>
            <p:ph type="title"/>
          </p:nvPr>
        </p:nvSpPr>
        <p:spPr>
          <a:xfrm>
            <a:off x="2304541" y="395284"/>
            <a:ext cx="4534918" cy="1250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3500">
                <a:solidFill>
                  <a:srgbClr val="3F3C3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2" type="sldNum"/>
          </p:nvPr>
        </p:nvSpPr>
        <p:spPr>
          <a:xfrm>
            <a:off x="8216195" y="4503439"/>
            <a:ext cx="417829" cy="449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 txBox="1"/>
          <p:nvPr>
            <p:ph type="title"/>
          </p:nvPr>
        </p:nvSpPr>
        <p:spPr>
          <a:xfrm>
            <a:off x="2304541" y="395284"/>
            <a:ext cx="4534918" cy="1250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3500">
                <a:solidFill>
                  <a:srgbClr val="3F3C3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12" type="sldNum"/>
          </p:nvPr>
        </p:nvSpPr>
        <p:spPr>
          <a:xfrm>
            <a:off x="8216195" y="4503439"/>
            <a:ext cx="417829" cy="449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8216195" y="4503439"/>
            <a:ext cx="417829" cy="449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/>
  </p:transition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.png"/><Relationship Id="rId22" Type="http://schemas.openxmlformats.org/officeDocument/2006/relationships/image" Target="../media/image13.png"/><Relationship Id="rId21" Type="http://schemas.openxmlformats.org/officeDocument/2006/relationships/image" Target="../media/image9.png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20.png"/><Relationship Id="rId1" Type="http://schemas.openxmlformats.org/officeDocument/2006/relationships/image" Target="../media/image14.png"/><Relationship Id="rId2" Type="http://schemas.openxmlformats.org/officeDocument/2006/relationships/image" Target="../media/image19.png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9" Type="http://schemas.openxmlformats.org/officeDocument/2006/relationships/image" Target="../media/image23.png"/><Relationship Id="rId26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.xml"/><Relationship Id="rId28" Type="http://schemas.openxmlformats.org/officeDocument/2006/relationships/slideLayout" Target="../slideLayouts/slideLayout5.xml"/><Relationship Id="rId27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6" Type="http://schemas.openxmlformats.org/officeDocument/2006/relationships/image" Target="../media/image21.png"/><Relationship Id="rId29" Type="http://schemas.openxmlformats.org/officeDocument/2006/relationships/theme" Target="../theme/theme2.xml"/><Relationship Id="rId7" Type="http://schemas.openxmlformats.org/officeDocument/2006/relationships/image" Target="../media/image16.png"/><Relationship Id="rId8" Type="http://schemas.openxmlformats.org/officeDocument/2006/relationships/image" Target="../media/image3.png"/><Relationship Id="rId11" Type="http://schemas.openxmlformats.org/officeDocument/2006/relationships/image" Target="../media/image18.png"/><Relationship Id="rId10" Type="http://schemas.openxmlformats.org/officeDocument/2006/relationships/image" Target="../media/image5.png"/><Relationship Id="rId13" Type="http://schemas.openxmlformats.org/officeDocument/2006/relationships/image" Target="../media/image2.png"/><Relationship Id="rId12" Type="http://schemas.openxmlformats.org/officeDocument/2006/relationships/image" Target="../media/image7.png"/><Relationship Id="rId15" Type="http://schemas.openxmlformats.org/officeDocument/2006/relationships/image" Target="../media/image12.png"/><Relationship Id="rId14" Type="http://schemas.openxmlformats.org/officeDocument/2006/relationships/image" Target="../media/image4.png"/><Relationship Id="rId17" Type="http://schemas.openxmlformats.org/officeDocument/2006/relationships/image" Target="../media/image6.png"/><Relationship Id="rId16" Type="http://schemas.openxmlformats.org/officeDocument/2006/relationships/image" Target="../media/image22.png"/><Relationship Id="rId19" Type="http://schemas.openxmlformats.org/officeDocument/2006/relationships/image" Target="../media/image10.png"/><Relationship Id="rId18" Type="http://schemas.openxmlformats.org/officeDocument/2006/relationships/image" Target="../media/image25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648" y="0"/>
            <a:ext cx="1200150" cy="1473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57" y="0"/>
            <a:ext cx="1174750" cy="1504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2" y="0"/>
            <a:ext cx="1149350" cy="1530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0" y="0"/>
            <a:ext cx="1123950" cy="1560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9" y="0"/>
            <a:ext cx="1098550" cy="1586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49" y="0"/>
            <a:ext cx="1073150" cy="1614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72" y="0"/>
            <a:ext cx="1047750" cy="1637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0"/>
            <a:ext cx="1022744" cy="1663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17" y="0"/>
            <a:ext cx="990600" cy="168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910" y="0"/>
            <a:ext cx="965200" cy="1716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97" y="0"/>
            <a:ext cx="933450" cy="174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881" y="0"/>
            <a:ext cx="908049" cy="1766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018" y="0"/>
            <a:ext cx="1022350" cy="1628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932" y="0"/>
            <a:ext cx="1136650" cy="1492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589" y="0"/>
            <a:ext cx="1263650" cy="1366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777" y="0"/>
            <a:ext cx="1384300" cy="1233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155" y="0"/>
            <a:ext cx="1511300" cy="1103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976" y="0"/>
            <a:ext cx="1644650" cy="977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805" y="0"/>
            <a:ext cx="1778000" cy="850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197" y="0"/>
            <a:ext cx="1911350" cy="723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583" y="0"/>
            <a:ext cx="2051049" cy="59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469" y="0"/>
            <a:ext cx="2190749" cy="496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0"/>
            <a:ext cx="2330769" cy="44613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 txBox="1"/>
          <p:nvPr>
            <p:ph type="title"/>
          </p:nvPr>
        </p:nvSpPr>
        <p:spPr>
          <a:xfrm>
            <a:off x="2304541" y="395284"/>
            <a:ext cx="4534918" cy="1250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3500" u="none" cap="none" strike="noStrike">
                <a:solidFill>
                  <a:srgbClr val="3F3C3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"/>
          <p:cNvSpPr txBox="1"/>
          <p:nvPr>
            <p:ph idx="1" type="body"/>
          </p:nvPr>
        </p:nvSpPr>
        <p:spPr>
          <a:xfrm>
            <a:off x="1257278" y="2020109"/>
            <a:ext cx="6895147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600" u="none" cap="none" strike="noStrike">
                <a:solidFill>
                  <a:srgbClr val="535353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"/>
          <p:cNvSpPr txBox="1"/>
          <p:nvPr>
            <p:ph idx="12" type="sldNum"/>
          </p:nvPr>
        </p:nvSpPr>
        <p:spPr>
          <a:xfrm>
            <a:off x="8216195" y="4503439"/>
            <a:ext cx="417829" cy="449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35353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fld id="{00000000-1234-1234-1234-123412341234}" type="slidenum">
              <a:rPr lang="en-US"/>
              <a:t>‹#›</a:t>
            </a:fld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4"/>
    <p:sldLayoutId id="2147483649" r:id="rId25"/>
    <p:sldLayoutId id="2147483650" r:id="rId26"/>
    <p:sldLayoutId id="2147483651" r:id="rId27"/>
    <p:sldLayoutId id="2147483652" r:id="rId28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1156" y="3363387"/>
            <a:ext cx="2292843" cy="17020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0" y="3298959"/>
            <a:ext cx="2087880" cy="1844849"/>
            <a:chOff x="0" y="6597918"/>
            <a:chExt cx="4175760" cy="3689698"/>
          </a:xfrm>
        </p:grpSpPr>
        <p:sp>
          <p:nvSpPr>
            <p:cNvPr id="69" name="Google Shape;69;p7"/>
            <p:cNvSpPr/>
            <p:nvPr/>
          </p:nvSpPr>
          <p:spPr>
            <a:xfrm>
              <a:off x="0" y="6597918"/>
              <a:ext cx="4175760" cy="3689350"/>
            </a:xfrm>
            <a:custGeom>
              <a:rect b="b" l="l" r="r" t="t"/>
              <a:pathLst>
                <a:path extrusionOk="0" h="3689350" w="4175760">
                  <a:moveTo>
                    <a:pt x="4175440" y="3689081"/>
                  </a:moveTo>
                  <a:lnTo>
                    <a:pt x="0" y="0"/>
                  </a:lnTo>
                  <a:lnTo>
                    <a:pt x="0" y="3689081"/>
                  </a:lnTo>
                  <a:lnTo>
                    <a:pt x="4175440" y="368908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0" y="6727806"/>
              <a:ext cx="3559810" cy="3559810"/>
            </a:xfrm>
            <a:custGeom>
              <a:rect b="b" l="l" r="r" t="t"/>
              <a:pathLst>
                <a:path extrusionOk="0" h="3559809" w="3559810">
                  <a:moveTo>
                    <a:pt x="0" y="3559193"/>
                  </a:moveTo>
                  <a:lnTo>
                    <a:pt x="3559193" y="3559193"/>
                  </a:lnTo>
                  <a:lnTo>
                    <a:pt x="0" y="0"/>
                  </a:lnTo>
                  <a:lnTo>
                    <a:pt x="0" y="3559193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7"/>
          <p:cNvGrpSpPr/>
          <p:nvPr/>
        </p:nvGrpSpPr>
        <p:grpSpPr>
          <a:xfrm>
            <a:off x="7744027" y="0"/>
            <a:ext cx="1400175" cy="1263015"/>
            <a:chOff x="15488054" y="0"/>
            <a:chExt cx="2800350" cy="2526030"/>
          </a:xfrm>
        </p:grpSpPr>
        <p:sp>
          <p:nvSpPr>
            <p:cNvPr id="72" name="Google Shape;72;p7"/>
            <p:cNvSpPr/>
            <p:nvPr/>
          </p:nvSpPr>
          <p:spPr>
            <a:xfrm>
              <a:off x="15488054" y="0"/>
              <a:ext cx="2800350" cy="2526030"/>
            </a:xfrm>
            <a:custGeom>
              <a:rect b="b" l="l" r="r" t="t"/>
              <a:pathLst>
                <a:path extrusionOk="0" h="2526030" w="2800350">
                  <a:moveTo>
                    <a:pt x="0" y="0"/>
                  </a:moveTo>
                  <a:lnTo>
                    <a:pt x="2799944" y="2525886"/>
                  </a:lnTo>
                  <a:lnTo>
                    <a:pt x="27999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15844815" y="0"/>
              <a:ext cx="2443480" cy="2443480"/>
            </a:xfrm>
            <a:custGeom>
              <a:rect b="b" l="l" r="r" t="t"/>
              <a:pathLst>
                <a:path extrusionOk="0" h="2443480" w="2443480">
                  <a:moveTo>
                    <a:pt x="2443184" y="0"/>
                  </a:moveTo>
                  <a:lnTo>
                    <a:pt x="0" y="0"/>
                  </a:lnTo>
                  <a:lnTo>
                    <a:pt x="2443184" y="2443184"/>
                  </a:lnTo>
                  <a:lnTo>
                    <a:pt x="2443184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p7"/>
          <p:cNvSpPr txBox="1"/>
          <p:nvPr>
            <p:ph type="title"/>
          </p:nvPr>
        </p:nvSpPr>
        <p:spPr>
          <a:xfrm>
            <a:off x="-239850" y="2160148"/>
            <a:ext cx="9623700" cy="25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 u="sng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rPr>
              <a:t>DAYA : Document Aware hYbrid Architecture</a:t>
            </a:r>
            <a:endParaRPr sz="3000" u="sng">
              <a:solidFill>
                <a:srgbClr val="53535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 u="sng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 u="sng"/>
          </a:p>
        </p:txBody>
      </p:sp>
      <p:sp>
        <p:nvSpPr>
          <p:cNvPr id="75" name="Google Shape;75;p7"/>
          <p:cNvSpPr/>
          <p:nvPr/>
        </p:nvSpPr>
        <p:spPr>
          <a:xfrm>
            <a:off x="6299038" y="1640712"/>
            <a:ext cx="16510" cy="33338"/>
          </a:xfrm>
          <a:custGeom>
            <a:rect b="b" l="l" r="r" t="t"/>
            <a:pathLst>
              <a:path extrusionOk="0" h="66675" w="33020">
                <a:moveTo>
                  <a:pt x="32444" y="66674"/>
                </a:moveTo>
                <a:lnTo>
                  <a:pt x="0" y="66674"/>
                </a:lnTo>
                <a:lnTo>
                  <a:pt x="0" y="0"/>
                </a:lnTo>
                <a:lnTo>
                  <a:pt x="32444" y="0"/>
                </a:lnTo>
                <a:lnTo>
                  <a:pt x="32444" y="66674"/>
                </a:lnTo>
                <a:close/>
              </a:path>
            </a:pathLst>
          </a:custGeom>
          <a:solidFill>
            <a:srgbClr val="3F3C3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0" y="2601918"/>
            <a:ext cx="9144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35353"/>
                </a:solidFill>
                <a:latin typeface="Lucida Sans"/>
                <a:ea typeface="Lucida Sans"/>
                <a:cs typeface="Lucida Sans"/>
                <a:sym typeface="Lucida Sans"/>
              </a:rPr>
              <a:t>By : Roney BABA</a:t>
            </a:r>
            <a:endParaRPr b="1" i="1" sz="2400">
              <a:solidFill>
                <a:srgbClr val="535353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/>
          <p:nvPr>
            <p:ph type="title"/>
          </p:nvPr>
        </p:nvSpPr>
        <p:spPr>
          <a:xfrm>
            <a:off x="2108841" y="364684"/>
            <a:ext cx="4534800" cy="14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2600" u="sng">
                <a:solidFill>
                  <a:srgbClr val="3F3C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600" u="sng">
              <a:solidFill>
                <a:srgbClr val="3F3C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 u="sng"/>
          </a:p>
          <a:p>
            <a:pPr indent="-1333500" lvl="0" marL="1447800" marR="0" rtl="0"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1500" u="sng"/>
          </a:p>
        </p:txBody>
      </p: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368925" y="1301125"/>
            <a:ext cx="8407800" cy="28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noAutofit/>
          </a:bodyPr>
          <a:lstStyle/>
          <a:p>
            <a:pPr indent="-330200" lvl="0" marL="457200" rtl="0" algn="just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AutoNum type="arabicPeriod"/>
            </a:pPr>
            <a:r>
              <a:rPr lang="en-US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Traditional RAG pipelines rely on arbitrary token-based chunking and text-only OCR, causing loss of document structure and section hierarchy. </a:t>
            </a:r>
            <a:endParaRPr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020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AutoNum type="arabicPeriod"/>
            </a:pPr>
            <a:r>
              <a:rPr lang="en-US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Current enterprise RAG pipelines lack dedicated frameworks for parsing corporate presentations. As a result, critical visual insights from charts and graphs are entirely lost when processing long, highly sensitive slide decks. </a:t>
            </a:r>
            <a:endParaRPr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83" name="Google Shape;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" y="3263049"/>
            <a:ext cx="1955074" cy="18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/>
          <p:nvPr/>
        </p:nvSpPr>
        <p:spPr>
          <a:xfrm>
            <a:off x="2270707" y="4732090"/>
            <a:ext cx="5836603" cy="0"/>
          </a:xfrm>
          <a:custGeom>
            <a:rect b="b" l="l" r="r" t="t"/>
            <a:pathLst>
              <a:path extrusionOk="0" h="120000"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noFill/>
          <a:ln cap="flat" cmpd="sng" w="9525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8"/>
          <p:cNvSpPr txBox="1"/>
          <p:nvPr>
            <p:ph idx="12" type="sldNum"/>
          </p:nvPr>
        </p:nvSpPr>
        <p:spPr>
          <a:xfrm>
            <a:off x="8216265" y="4503420"/>
            <a:ext cx="647700" cy="395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01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/>
          <p:nvPr>
            <p:ph type="ctrTitle"/>
          </p:nvPr>
        </p:nvSpPr>
        <p:spPr>
          <a:xfrm>
            <a:off x="2774548" y="248550"/>
            <a:ext cx="3684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b="1" lang="en-US" sz="2600" u="sng">
                <a:latin typeface="Times"/>
                <a:ea typeface="Times"/>
                <a:cs typeface="Times"/>
                <a:sym typeface="Times"/>
              </a:rPr>
              <a:t>O</a:t>
            </a:r>
            <a:r>
              <a:rPr lang="en-US" sz="2600" u="sng">
                <a:latin typeface="Times"/>
                <a:ea typeface="Times"/>
                <a:cs typeface="Times"/>
                <a:sym typeface="Times"/>
              </a:rPr>
              <a:t>bjectives</a:t>
            </a:r>
            <a:endParaRPr/>
          </a:p>
        </p:txBody>
      </p:sp>
      <p:sp>
        <p:nvSpPr>
          <p:cNvPr id="91" name="Google Shape;91;p9"/>
          <p:cNvSpPr txBox="1"/>
          <p:nvPr>
            <p:ph idx="1" type="subTitle"/>
          </p:nvPr>
        </p:nvSpPr>
        <p:spPr>
          <a:xfrm>
            <a:off x="553720" y="828040"/>
            <a:ext cx="8187055" cy="362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8534" lvl="0" marL="329184" marR="9144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Eliminate arbitrary token chunking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8534" lvl="0" marL="329184" marR="9144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hierarchical document index in form of a tree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8534" lvl="0" marL="329184" marR="9144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multi-modal processing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8534" lvl="0" marL="329184" marR="9144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intelligent query handling and retrieval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8534" lvl="0" marL="329184" marR="9144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 grounded and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traceable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responses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8534" lvl="0" marL="329184" marR="9144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ign a modular, production-ready pipeline </a:t>
            </a:r>
            <a:endParaRPr sz="2100">
              <a:solidFill>
                <a:srgbClr val="3F3C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9"/>
          <p:cNvSpPr txBox="1"/>
          <p:nvPr>
            <p:ph idx="12" type="sldNum"/>
          </p:nvPr>
        </p:nvSpPr>
        <p:spPr>
          <a:xfrm>
            <a:off x="8362315" y="4606290"/>
            <a:ext cx="52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>
            <p:ph type="title"/>
          </p:nvPr>
        </p:nvSpPr>
        <p:spPr>
          <a:xfrm>
            <a:off x="2304541" y="395284"/>
            <a:ext cx="45348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2600" u="sng">
                <a:solidFill>
                  <a:srgbClr val="3F3C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600" u="sng">
              <a:solidFill>
                <a:srgbClr val="3F3C3D"/>
              </a:solidFill>
            </a:endParaRPr>
          </a:p>
          <a:p>
            <a:pPr indent="508000" lvl="0" marL="7493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2600" u="sng">
              <a:solidFill>
                <a:srgbClr val="3F3C3D"/>
              </a:solidFill>
            </a:endParaRPr>
          </a:p>
        </p:txBody>
      </p:sp>
      <p:sp>
        <p:nvSpPr>
          <p:cNvPr id="98" name="Google Shape;98;p10"/>
          <p:cNvSpPr txBox="1"/>
          <p:nvPr>
            <p:ph idx="1" type="body"/>
          </p:nvPr>
        </p:nvSpPr>
        <p:spPr>
          <a:xfrm>
            <a:off x="259715" y="924560"/>
            <a:ext cx="8612505" cy="357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900">
            <a:noAutofit/>
          </a:bodyPr>
          <a:lstStyle/>
          <a:p>
            <a:pPr indent="-285750" lvl="0" marL="4191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C3D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3F3C3D"/>
                </a:solidFill>
                <a:latin typeface="Times"/>
                <a:ea typeface="Times"/>
                <a:cs typeface="Times"/>
                <a:sym typeface="Times"/>
              </a:rPr>
              <a:t>Why do we need RAG ?</a:t>
            </a:r>
            <a:endParaRPr sz="1500">
              <a:solidFill>
                <a:srgbClr val="3F3C3D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99" name="Google Shape;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" y="3263049"/>
            <a:ext cx="1955074" cy="18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0"/>
          <p:cNvSpPr/>
          <p:nvPr/>
        </p:nvSpPr>
        <p:spPr>
          <a:xfrm>
            <a:off x="2270707" y="4732090"/>
            <a:ext cx="5836603" cy="0"/>
          </a:xfrm>
          <a:custGeom>
            <a:rect b="b" l="l" r="r" t="t"/>
            <a:pathLst>
              <a:path extrusionOk="0" h="120000"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noFill/>
          <a:ln cap="flat" cmpd="sng" w="9525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0"/>
          <p:cNvSpPr txBox="1"/>
          <p:nvPr>
            <p:ph idx="12" type="sldNum"/>
          </p:nvPr>
        </p:nvSpPr>
        <p:spPr>
          <a:xfrm>
            <a:off x="8216265" y="4503420"/>
            <a:ext cx="5976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03</a:t>
            </a:r>
            <a:endParaRPr/>
          </a:p>
        </p:txBody>
      </p:sp>
      <p:pic>
        <p:nvPicPr>
          <p:cNvPr id="102" name="Google Shape;10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525" y="1217200"/>
            <a:ext cx="7512198" cy="3285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/>
          <p:nvPr>
            <p:ph type="title"/>
          </p:nvPr>
        </p:nvSpPr>
        <p:spPr>
          <a:xfrm>
            <a:off x="2304541" y="395284"/>
            <a:ext cx="4534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3400" u="sng">
                <a:solidFill>
                  <a:srgbClr val="3F3C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400" u="sng">
                <a:latin typeface="Times New Roman"/>
                <a:ea typeface="Times New Roman"/>
                <a:cs typeface="Times New Roman"/>
                <a:sym typeface="Times New Roman"/>
              </a:rPr>
              <a:t>ssues</a:t>
            </a:r>
            <a:endParaRPr sz="3400" u="sng">
              <a:solidFill>
                <a:srgbClr val="3F3C3D"/>
              </a:solidFill>
            </a:endParaRPr>
          </a:p>
          <a:p>
            <a:pPr indent="508000" lvl="0" marL="7493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2600" u="sng">
              <a:solidFill>
                <a:srgbClr val="3F3C3D"/>
              </a:solidFill>
            </a:endParaRPr>
          </a:p>
        </p:txBody>
      </p:sp>
      <p:sp>
        <p:nvSpPr>
          <p:cNvPr id="108" name="Google Shape;108;p11"/>
          <p:cNvSpPr txBox="1"/>
          <p:nvPr>
            <p:ph idx="1" type="body"/>
          </p:nvPr>
        </p:nvSpPr>
        <p:spPr>
          <a:xfrm>
            <a:off x="442765" y="1407160"/>
            <a:ext cx="8612400" cy="3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9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F3C3D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476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F3C3D"/>
              </a:buClr>
              <a:buSzPts val="3900"/>
              <a:buFont typeface="Times"/>
              <a:buChar char="❏"/>
            </a:pPr>
            <a:r>
              <a:rPr b="1" lang="en-US" sz="3900">
                <a:solidFill>
                  <a:srgbClr val="3F3C3D"/>
                </a:solidFill>
                <a:latin typeface="Times"/>
                <a:ea typeface="Times"/>
                <a:cs typeface="Times"/>
                <a:sym typeface="Times"/>
              </a:rPr>
              <a:t>Chunking</a:t>
            </a:r>
            <a:endParaRPr b="1" sz="3900">
              <a:solidFill>
                <a:srgbClr val="3F3C3D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476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C3D"/>
              </a:buClr>
              <a:buSzPts val="3900"/>
              <a:buFont typeface="Times"/>
              <a:buChar char="❏"/>
            </a:pPr>
            <a:r>
              <a:rPr b="1" lang="en-US" sz="3900">
                <a:solidFill>
                  <a:srgbClr val="3F3C3D"/>
                </a:solidFill>
                <a:latin typeface="Times"/>
                <a:ea typeface="Times"/>
                <a:cs typeface="Times"/>
                <a:sym typeface="Times"/>
              </a:rPr>
              <a:t>Semantic Search</a:t>
            </a:r>
            <a:endParaRPr b="1" sz="3900">
              <a:solidFill>
                <a:srgbClr val="3F3C3D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3F3C3D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09" name="Google Shape;10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" y="3263049"/>
            <a:ext cx="1955074" cy="18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1"/>
          <p:cNvSpPr/>
          <p:nvPr/>
        </p:nvSpPr>
        <p:spPr>
          <a:xfrm>
            <a:off x="2270707" y="4732090"/>
            <a:ext cx="5836603" cy="0"/>
          </a:xfrm>
          <a:custGeom>
            <a:rect b="b" l="l" r="r" t="t"/>
            <a:pathLst>
              <a:path extrusionOk="0" h="120000"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noFill/>
          <a:ln cap="flat" cmpd="sng" w="9525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1"/>
          <p:cNvSpPr txBox="1"/>
          <p:nvPr>
            <p:ph idx="12" type="sldNum"/>
          </p:nvPr>
        </p:nvSpPr>
        <p:spPr>
          <a:xfrm>
            <a:off x="8216265" y="4503420"/>
            <a:ext cx="5976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04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 txBox="1"/>
          <p:nvPr>
            <p:ph idx="1" type="body"/>
          </p:nvPr>
        </p:nvSpPr>
        <p:spPr>
          <a:xfrm>
            <a:off x="265790" y="925335"/>
            <a:ext cx="8612400" cy="3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900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600">
              <a:solidFill>
                <a:srgbClr val="3F3C3D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4900">
                <a:solidFill>
                  <a:srgbClr val="3F3C3D"/>
                </a:solidFill>
                <a:latin typeface="Times"/>
                <a:ea typeface="Times"/>
                <a:cs typeface="Times"/>
                <a:sym typeface="Times"/>
              </a:rPr>
              <a:t>Introducing</a:t>
            </a:r>
            <a:r>
              <a:rPr b="1" lang="en-US" sz="4900">
                <a:solidFill>
                  <a:srgbClr val="3F3C3D"/>
                </a:solidFill>
                <a:latin typeface="Times"/>
                <a:ea typeface="Times"/>
                <a:cs typeface="Times"/>
                <a:sym typeface="Times"/>
              </a:rPr>
              <a:t> DAYA</a:t>
            </a:r>
            <a:endParaRPr b="1" sz="2500">
              <a:solidFill>
                <a:srgbClr val="3F3C3D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17" name="Google Shape;1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" y="3263049"/>
            <a:ext cx="1955074" cy="18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2"/>
          <p:cNvSpPr/>
          <p:nvPr/>
        </p:nvSpPr>
        <p:spPr>
          <a:xfrm>
            <a:off x="2270707" y="4732090"/>
            <a:ext cx="5836603" cy="0"/>
          </a:xfrm>
          <a:custGeom>
            <a:rect b="b" l="l" r="r" t="t"/>
            <a:pathLst>
              <a:path extrusionOk="0" h="120000"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noFill/>
          <a:ln cap="flat" cmpd="sng" w="9525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2"/>
          <p:cNvSpPr txBox="1"/>
          <p:nvPr>
            <p:ph idx="12" type="sldNum"/>
          </p:nvPr>
        </p:nvSpPr>
        <p:spPr>
          <a:xfrm>
            <a:off x="8216265" y="4503420"/>
            <a:ext cx="5976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05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 txBox="1"/>
          <p:nvPr>
            <p:ph type="title"/>
          </p:nvPr>
        </p:nvSpPr>
        <p:spPr>
          <a:xfrm>
            <a:off x="2304541" y="395284"/>
            <a:ext cx="4534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3400" u="sng">
                <a:latin typeface="Times New Roman"/>
                <a:ea typeface="Times New Roman"/>
                <a:cs typeface="Times New Roman"/>
                <a:sym typeface="Times New Roman"/>
              </a:rPr>
              <a:t>Why DAYA Works?</a:t>
            </a:r>
            <a:endParaRPr sz="3400" u="sng">
              <a:solidFill>
                <a:srgbClr val="3F3C3D"/>
              </a:solidFill>
            </a:endParaRPr>
          </a:p>
          <a:p>
            <a:pPr indent="508000" lvl="0" marL="7493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2600" u="sng">
              <a:solidFill>
                <a:srgbClr val="3F3C3D"/>
              </a:solidFill>
            </a:endParaRPr>
          </a:p>
        </p:txBody>
      </p:sp>
      <p:sp>
        <p:nvSpPr>
          <p:cNvPr id="125" name="Google Shape;125;p13"/>
          <p:cNvSpPr txBox="1"/>
          <p:nvPr>
            <p:ph idx="1" type="body"/>
          </p:nvPr>
        </p:nvSpPr>
        <p:spPr>
          <a:xfrm>
            <a:off x="442765" y="1407160"/>
            <a:ext cx="8612400" cy="3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9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F3C3D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476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F3C3D"/>
              </a:buClr>
              <a:buSzPts val="3900"/>
              <a:buFont typeface="Times"/>
              <a:buChar char="❏"/>
            </a:pPr>
            <a:r>
              <a:rPr b="1" lang="en-US" sz="3900">
                <a:solidFill>
                  <a:srgbClr val="3F3C3D"/>
                </a:solidFill>
                <a:latin typeface="Times"/>
                <a:ea typeface="Times"/>
                <a:cs typeface="Times"/>
                <a:sym typeface="Times"/>
              </a:rPr>
              <a:t>NO </a:t>
            </a:r>
            <a:r>
              <a:rPr b="1" lang="en-US" sz="3900">
                <a:solidFill>
                  <a:srgbClr val="3F3C3D"/>
                </a:solidFill>
                <a:latin typeface="Times"/>
                <a:ea typeface="Times"/>
                <a:cs typeface="Times"/>
                <a:sym typeface="Times"/>
              </a:rPr>
              <a:t>Chunking</a:t>
            </a:r>
            <a:endParaRPr b="1" sz="3900">
              <a:solidFill>
                <a:srgbClr val="3F3C3D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476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C3D"/>
              </a:buClr>
              <a:buSzPts val="3900"/>
              <a:buFont typeface="Times"/>
              <a:buChar char="❏"/>
            </a:pPr>
            <a:r>
              <a:rPr b="1" lang="en-US" sz="3900">
                <a:solidFill>
                  <a:srgbClr val="3F3C3D"/>
                </a:solidFill>
                <a:latin typeface="Times"/>
                <a:ea typeface="Times"/>
                <a:cs typeface="Times"/>
                <a:sym typeface="Times"/>
              </a:rPr>
              <a:t>Relevant searching</a:t>
            </a:r>
            <a:endParaRPr b="1" sz="3900">
              <a:solidFill>
                <a:srgbClr val="3F3C3D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3F3C3D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26" name="Google Shape;1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" y="3263049"/>
            <a:ext cx="1955074" cy="18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3"/>
          <p:cNvSpPr/>
          <p:nvPr/>
        </p:nvSpPr>
        <p:spPr>
          <a:xfrm>
            <a:off x="2270707" y="4732090"/>
            <a:ext cx="5836603" cy="0"/>
          </a:xfrm>
          <a:custGeom>
            <a:rect b="b" l="l" r="r" t="t"/>
            <a:pathLst>
              <a:path extrusionOk="0" h="120000"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noFill/>
          <a:ln cap="flat" cmpd="sng" w="9525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3"/>
          <p:cNvSpPr txBox="1"/>
          <p:nvPr>
            <p:ph idx="12" type="sldNum"/>
          </p:nvPr>
        </p:nvSpPr>
        <p:spPr>
          <a:xfrm>
            <a:off x="8216265" y="4503420"/>
            <a:ext cx="5976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06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259716" y="357184"/>
            <a:ext cx="45348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2900">
                <a:latin typeface="Times"/>
                <a:ea typeface="Times"/>
                <a:cs typeface="Times"/>
                <a:sym typeface="Times"/>
              </a:rPr>
              <a:t>Loss of Context</a:t>
            </a:r>
            <a:endParaRPr b="0" sz="3000">
              <a:solidFill>
                <a:srgbClr val="535353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t/>
            </a:r>
            <a:endParaRPr sz="26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508000" lvl="0" marL="7493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2600" u="sng">
              <a:solidFill>
                <a:srgbClr val="3F3C3D"/>
              </a:solidFill>
            </a:endParaRPr>
          </a:p>
        </p:txBody>
      </p:sp>
      <p:sp>
        <p:nvSpPr>
          <p:cNvPr id="134" name="Google Shape;134;p14"/>
          <p:cNvSpPr txBox="1"/>
          <p:nvPr>
            <p:ph idx="1" type="body"/>
          </p:nvPr>
        </p:nvSpPr>
        <p:spPr>
          <a:xfrm>
            <a:off x="259715" y="924560"/>
            <a:ext cx="8612400" cy="3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9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Question: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"Where is the inspection checklist before lifting"</a:t>
            </a:r>
            <a:endParaRPr i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 Complete Answer Requires: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5-point inspection checklist on Page 20 </a:t>
            </a:r>
            <a:r>
              <a:rPr i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(Ropes, Chains, Hooks, Safety Latch, Drum Spooling</a:t>
            </a:r>
            <a:r>
              <a:rPr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RAG </a:t>
            </a:r>
            <a:br>
              <a:rPr b="1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Returned responsibility bullets from Page 19 instead of the actual checklist on Page 20.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it failed — Chunk Isolation: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is split into fixed chunks processed independently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retrieved chunk ended exactly at </a:t>
            </a:r>
            <a:r>
              <a:rPr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"At a minimum, the installer must…"</a:t>
            </a:r>
            <a:endParaRPr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actual checklist items lived in the </a:t>
            </a: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chunk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never seen by the model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mechanism to look across chunk boundaries for continuation of content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A confident-sounding but factually wrong answer pointing to the wrong list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" y="3263049"/>
            <a:ext cx="1955074" cy="18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4"/>
          <p:cNvSpPr/>
          <p:nvPr/>
        </p:nvSpPr>
        <p:spPr>
          <a:xfrm>
            <a:off x="2270707" y="4732090"/>
            <a:ext cx="5836603" cy="0"/>
          </a:xfrm>
          <a:custGeom>
            <a:rect b="b" l="l" r="r" t="t"/>
            <a:pathLst>
              <a:path extrusionOk="0" h="120000"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noFill/>
          <a:ln cap="flat" cmpd="sng" w="9525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 txBox="1"/>
          <p:nvPr>
            <p:ph idx="12" type="sldNum"/>
          </p:nvPr>
        </p:nvSpPr>
        <p:spPr>
          <a:xfrm>
            <a:off x="8216265" y="4503420"/>
            <a:ext cx="5976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07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259716" y="357184"/>
            <a:ext cx="45348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2900">
                <a:latin typeface="Times"/>
                <a:ea typeface="Times"/>
                <a:cs typeface="Times"/>
                <a:sym typeface="Times"/>
              </a:rPr>
              <a:t>How DAYA Solves</a:t>
            </a:r>
            <a:endParaRPr b="0" sz="3000">
              <a:solidFill>
                <a:srgbClr val="535353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t/>
            </a:r>
            <a:endParaRPr sz="26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508000" lvl="0" marL="7493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2600" u="sng">
              <a:solidFill>
                <a:srgbClr val="3F3C3D"/>
              </a:solidFill>
            </a:endParaRPr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259715" y="924560"/>
            <a:ext cx="8612400" cy="3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9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Correctly identified the inspection checklist on Page 20 and reproduced all 5 items accurately. 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(Ropes, Chains, Hooks, Safety Latch, Drum Spooling)</a:t>
            </a:r>
            <a:endParaRPr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it succeeded — No Chunking: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Operates at the document-structure level: 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→ page → figures</a:t>
            </a:r>
            <a:endParaRPr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checklist header and its items were never split across boundaries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Kept the checklist content and associated rigging instructions together as one coherent unit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artificial chunk cutoffs meant no content was left just out of reach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The complete, correct list — retrieved and reproduced in full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" y="3263049"/>
            <a:ext cx="1955074" cy="18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/>
          <p:nvPr/>
        </p:nvSpPr>
        <p:spPr>
          <a:xfrm>
            <a:off x="2270707" y="4732090"/>
            <a:ext cx="5836603" cy="0"/>
          </a:xfrm>
          <a:custGeom>
            <a:rect b="b" l="l" r="r" t="t"/>
            <a:pathLst>
              <a:path extrusionOk="0" h="120000"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noFill/>
          <a:ln cap="flat" cmpd="sng" w="9525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8216265" y="4503420"/>
            <a:ext cx="5976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08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259716" y="357184"/>
            <a:ext cx="45348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2900">
                <a:latin typeface="Times"/>
                <a:ea typeface="Times"/>
                <a:cs typeface="Times"/>
                <a:sym typeface="Times"/>
              </a:rPr>
              <a:t>Lack of Reasoning</a:t>
            </a:r>
            <a:endParaRPr b="0" sz="3000">
              <a:solidFill>
                <a:srgbClr val="535353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t/>
            </a:r>
            <a:endParaRPr sz="26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508000" lvl="0" marL="7493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2600" u="sng">
              <a:solidFill>
                <a:srgbClr val="3F3C3D"/>
              </a:solidFill>
            </a:endParaRPr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259715" y="924560"/>
            <a:ext cx="8612400" cy="3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900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Question: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"How do I change the dehydrator and what safety precautions apply?"</a:t>
            </a:r>
            <a:endParaRPr i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 Complete Answer Requires: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AutoNum type="arabicPeriod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Dehydrator replacement procedure — Page 29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AutoNum type="arabicPeriod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Refrigerant-related safety warnings — Page 6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RAG </a:t>
            </a:r>
            <a:b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Retrieved the mechanical procedure on Page 29, but missed the critical Refrigerant Warning on Page 6.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it failed — Static, Single-Hop Retrieval: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Matched content based on direct keyword similarity only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Retrieved the dehydrator procedure and stopped there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Could not reason that a dehydrator works with refrigerant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Never made the second "hop" to connect the procedure → working fluid → refrigerant warning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A partial answer that omits a critical safety hazard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" y="3263049"/>
            <a:ext cx="1955074" cy="18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/>
          <p:nvPr/>
        </p:nvSpPr>
        <p:spPr>
          <a:xfrm>
            <a:off x="2270707" y="4732090"/>
            <a:ext cx="5836603" cy="0"/>
          </a:xfrm>
          <a:custGeom>
            <a:rect b="b" l="l" r="r" t="t"/>
            <a:pathLst>
              <a:path extrusionOk="0" h="120000"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noFill/>
          <a:ln cap="flat" cmpd="sng" w="9525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 txBox="1"/>
          <p:nvPr>
            <p:ph idx="12" type="sldNum"/>
          </p:nvPr>
        </p:nvSpPr>
        <p:spPr>
          <a:xfrm>
            <a:off x="8216265" y="4503420"/>
            <a:ext cx="5976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09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259716" y="357184"/>
            <a:ext cx="45348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2900">
                <a:latin typeface="Times"/>
                <a:ea typeface="Times"/>
                <a:cs typeface="Times"/>
                <a:sym typeface="Times"/>
              </a:rPr>
              <a:t>How DAYA Solves</a:t>
            </a:r>
            <a:endParaRPr b="0" sz="3000">
              <a:solidFill>
                <a:srgbClr val="535353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t/>
            </a:r>
            <a:endParaRPr sz="26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508000" lvl="0" marL="7493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2600" u="sng">
              <a:solidFill>
                <a:srgbClr val="3F3C3D"/>
              </a:solidFill>
            </a:endParaRPr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259715" y="924560"/>
            <a:ext cx="8612400" cy="3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Retrieved both the dehydrator replacement procedure (Page 29) AND the critical Refrigerant Warning (Page 6).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it succeeded — Structure-Aware Reasoning: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Located the dehydrator replacement procedure on Page 29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Noticed Step 4 referenced </a:t>
            </a:r>
            <a:r>
              <a:rPr i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"refrigerant leaks"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flagged it as a logical gap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Inferred that refrigerant safety guidance was relevant to complete the answer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Followed document structure to the safety section and retrieved the Refrigerant Warning on Page 6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A complete, safe, and accurate answer — no critical hazard left behind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" y="3263049"/>
            <a:ext cx="1955074" cy="18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/>
          <p:nvPr/>
        </p:nvSpPr>
        <p:spPr>
          <a:xfrm>
            <a:off x="2270707" y="4732090"/>
            <a:ext cx="5836603" cy="0"/>
          </a:xfrm>
          <a:custGeom>
            <a:rect b="b" l="l" r="r" t="t"/>
            <a:pathLst>
              <a:path extrusionOk="0" h="120000"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noFill/>
          <a:ln cap="flat" cmpd="sng" w="9525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7"/>
          <p:cNvSpPr txBox="1"/>
          <p:nvPr>
            <p:ph idx="12" type="sldNum"/>
          </p:nvPr>
        </p:nvSpPr>
        <p:spPr>
          <a:xfrm>
            <a:off x="8216265" y="4503420"/>
            <a:ext cx="5976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10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259716" y="357184"/>
            <a:ext cx="45348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2900">
                <a:latin typeface="Times"/>
                <a:ea typeface="Times"/>
                <a:cs typeface="Times"/>
                <a:sym typeface="Times"/>
              </a:rPr>
              <a:t>Hallucinations</a:t>
            </a:r>
            <a:endParaRPr b="0" sz="3000">
              <a:solidFill>
                <a:srgbClr val="535353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t/>
            </a:r>
            <a:endParaRPr sz="26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508000" lvl="0" marL="7493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2600" u="sng">
              <a:solidFill>
                <a:srgbClr val="3F3C3D"/>
              </a:solidFill>
            </a:endParaRPr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259715" y="924560"/>
            <a:ext cx="8612400" cy="3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900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Question:</a:t>
            </a: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i="1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is glycol pumping required in closed-loop free cooling? </a:t>
            </a:r>
            <a:r>
              <a:rPr i="1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endParaRPr i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 Complete Answer Requires: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accurate reflection of the Closed-Loop configuration as described on Pages 20–21 — without mixing in open-loop details.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RAG </a:t>
            </a:r>
            <a:b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Retrieved the mechanical procedure on Page 29, but missed the critical Refrigerant Warning on Page 6.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it failed — Context Confusions: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open-loop and closed-loop sections share overlapping terms: </a:t>
            </a: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"free cooling," "valve," "glycol," "flow"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RAG pulled passages from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configurations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simultaneously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LLM, now seeing mixed context, merged details across systems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Gaps were filled with plausible-sounding guesses rather than verified facts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A hallucinated answer that contradicts the manual — wrong system, wrong pump role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" y="3263049"/>
            <a:ext cx="1955074" cy="18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/>
          <p:nvPr/>
        </p:nvSpPr>
        <p:spPr>
          <a:xfrm>
            <a:off x="2270707" y="4732090"/>
            <a:ext cx="5836603" cy="0"/>
          </a:xfrm>
          <a:custGeom>
            <a:rect b="b" l="l" r="r" t="t"/>
            <a:pathLst>
              <a:path extrusionOk="0" h="120000"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noFill/>
          <a:ln cap="flat" cmpd="sng" w="9525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8"/>
          <p:cNvSpPr txBox="1"/>
          <p:nvPr>
            <p:ph idx="12" type="sldNum"/>
          </p:nvPr>
        </p:nvSpPr>
        <p:spPr>
          <a:xfrm>
            <a:off x="8216265" y="4503420"/>
            <a:ext cx="5976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11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type="title"/>
          </p:nvPr>
        </p:nvSpPr>
        <p:spPr>
          <a:xfrm>
            <a:off x="259716" y="357184"/>
            <a:ext cx="45348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2900">
                <a:latin typeface="Times"/>
                <a:ea typeface="Times"/>
                <a:cs typeface="Times"/>
                <a:sym typeface="Times"/>
              </a:rPr>
              <a:t>H</a:t>
            </a:r>
            <a:r>
              <a:rPr lang="en-US" sz="2900">
                <a:latin typeface="Times"/>
                <a:ea typeface="Times"/>
                <a:cs typeface="Times"/>
                <a:sym typeface="Times"/>
              </a:rPr>
              <a:t>ow DAYA Solves</a:t>
            </a:r>
            <a:endParaRPr b="0" sz="3000">
              <a:solidFill>
                <a:srgbClr val="535353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t/>
            </a:r>
            <a:endParaRPr sz="26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508000" lvl="0" marL="7493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2600" u="sng">
              <a:solidFill>
                <a:srgbClr val="3F3C3D"/>
              </a:solidFill>
            </a:endParaRPr>
          </a:p>
        </p:txBody>
      </p:sp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259715" y="924560"/>
            <a:ext cx="8612400" cy="3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9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Accurately answered using only the Closed-Loop section (Pages 20–21), without importing any open-loop details.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it succeeded — Structure-Aware Reasoning: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document structure to navigate directly to the Closed-Loop section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Naturally excluded the Open-Loop content that shared overlapping terminology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Never conflated the free-cooling valve (open-loop only) with closed-loop components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only the logical points relevant to the closed-loop glycol pump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A clean, accurate answer with zero cross-contamination from adjacent sections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" y="3263049"/>
            <a:ext cx="1955074" cy="18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/>
          <p:nvPr/>
        </p:nvSpPr>
        <p:spPr>
          <a:xfrm>
            <a:off x="2270707" y="4732090"/>
            <a:ext cx="5836603" cy="0"/>
          </a:xfrm>
          <a:custGeom>
            <a:rect b="b" l="l" r="r" t="t"/>
            <a:pathLst>
              <a:path extrusionOk="0" h="120000"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noFill/>
          <a:ln cap="flat" cmpd="sng" w="9525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 txBox="1"/>
          <p:nvPr>
            <p:ph idx="12" type="sldNum"/>
          </p:nvPr>
        </p:nvSpPr>
        <p:spPr>
          <a:xfrm>
            <a:off x="8216265" y="4503420"/>
            <a:ext cx="5976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12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>
            <p:ph type="title"/>
          </p:nvPr>
        </p:nvSpPr>
        <p:spPr>
          <a:xfrm>
            <a:off x="1779050" y="256400"/>
            <a:ext cx="54636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2600" u="sng">
                <a:latin typeface="Times"/>
                <a:ea typeface="Times"/>
                <a:cs typeface="Times"/>
                <a:sym typeface="Times"/>
              </a:rPr>
              <a:t>Tech Stack Used</a:t>
            </a:r>
            <a:endParaRPr/>
          </a:p>
        </p:txBody>
      </p:sp>
      <p:pic>
        <p:nvPicPr>
          <p:cNvPr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" y="3263049"/>
            <a:ext cx="1955074" cy="18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>
            <p:ph idx="12" type="sldNum"/>
          </p:nvPr>
        </p:nvSpPr>
        <p:spPr>
          <a:xfrm>
            <a:off x="8216265" y="4503420"/>
            <a:ext cx="5022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13</a:t>
            </a:r>
            <a:endParaRPr/>
          </a:p>
        </p:txBody>
      </p:sp>
      <p:graphicFrame>
        <p:nvGraphicFramePr>
          <p:cNvPr id="190" name="Google Shape;190;p20"/>
          <p:cNvGraphicFramePr/>
          <p:nvPr/>
        </p:nvGraphicFramePr>
        <p:xfrm>
          <a:off x="730238" y="79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{65343121-7992-4DB3-AC6C-D56627BB9666}</a:tableStyleId>
              </a:tblPr>
              <a:tblGrid>
                <a:gridCol w="2042575"/>
                <a:gridCol w="5640950"/>
              </a:tblGrid>
              <a:tr h="382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 b="1" sz="13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4300" marB="152400" marR="114300" marL="91425">
                    <a:lnL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Technologies &amp; Tools Used</a:t>
                      </a:r>
                      <a:endParaRPr b="1" sz="13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4300" marB="152400" marR="91425" marL="114300">
                    <a:lnL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Language &amp; Core</a:t>
                      </a:r>
                      <a:endParaRPr b="1" sz="13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52400" marB="152400" marR="114300" marL="91425">
                    <a:lnL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Python 3.10+, Python Abstract Base Classes (ABCs), 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Google Colab SDK</a:t>
                      </a:r>
                      <a:endParaRPr sz="13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52400" marB="152400" marR="91425" marL="114300">
                    <a:lnL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LLMs &amp; AI Models</a:t>
                      </a:r>
                      <a:endParaRPr b="1" sz="13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52400" marB="152400" marR="114300" marL="91425">
                    <a:lnL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350">
                          <a:solidFill>
                            <a:schemeClr val="dk1"/>
                          </a:solidFill>
                          <a:highlight>
                            <a:srgbClr val="F2F0F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openai/gpt-oss-120b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, Meta Llama 4 Scout (</a:t>
                      </a:r>
                      <a:r>
                        <a:rPr lang="en-US" sz="1350">
                          <a:solidFill>
                            <a:schemeClr val="dk1"/>
                          </a:solidFill>
                          <a:highlight>
                            <a:srgbClr val="F2F0F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llama-4-scout-17b-16e-instruct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endParaRPr sz="13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52400" marB="152400" marR="91425" marL="114300">
                    <a:lnL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Document Parsing</a:t>
                      </a:r>
                      <a:endParaRPr b="1" sz="13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52400" marB="152400" marR="114300" marL="91425">
                    <a:lnL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IBM Docling  , PyPDF</a:t>
                      </a:r>
                      <a:endParaRPr sz="13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52400" marB="152400" marR="91425" marL="114300">
                    <a:lnL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8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Embeddings</a:t>
                      </a:r>
                      <a:endParaRPr b="1" sz="13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52400" marB="152400" marR="114300" marL="91425">
                    <a:lnL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Jina AI Embeddings v5 (</a:t>
                      </a:r>
                      <a:r>
                        <a:rPr lang="en-US" sz="1350">
                          <a:solidFill>
                            <a:schemeClr val="dk1"/>
                          </a:solidFill>
                          <a:highlight>
                            <a:srgbClr val="F2F0F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jina-embeddings-v5-text-small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, SentenceTransformers</a:t>
                      </a:r>
                      <a:endParaRPr sz="13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52400" marB="152400" marR="91425" marL="114300">
                    <a:lnL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Vector Database</a:t>
                      </a:r>
                      <a:endParaRPr b="1" sz="13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52400" marB="152400" marR="114300" marL="91425">
                    <a:lnL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ChromaDB (In-memory &amp; Persistent Client)</a:t>
                      </a:r>
                      <a:endParaRPr sz="13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52400" marB="152400" marR="91425" marL="114300">
                    <a:lnL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 &amp; Cloud APIs</a:t>
                      </a:r>
                      <a:endParaRPr b="1" sz="13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52400" marB="152400" marR="114300" marL="91425">
                    <a:lnL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Groq Cloud API</a:t>
                      </a:r>
                      <a:endParaRPr sz="13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52400" marB="152400" marR="91425" marL="114300">
                    <a:lnL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8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type="title"/>
          </p:nvPr>
        </p:nvSpPr>
        <p:spPr>
          <a:xfrm>
            <a:off x="2089800" y="105650"/>
            <a:ext cx="49644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2600" u="sng">
                <a:latin typeface="Times"/>
                <a:ea typeface="Times"/>
                <a:cs typeface="Times"/>
                <a:sym typeface="Times"/>
              </a:rPr>
              <a:t>System Flow Chart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536575" y="990600"/>
            <a:ext cx="8097600" cy="3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noAutofit/>
          </a:bodyPr>
          <a:lstStyle/>
          <a:p>
            <a:pPr indent="0" lvl="0" marL="4572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" y="3263049"/>
            <a:ext cx="1955074" cy="18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>
            <p:ph idx="12" type="sldNum"/>
          </p:nvPr>
        </p:nvSpPr>
        <p:spPr>
          <a:xfrm>
            <a:off x="8216265" y="4503420"/>
            <a:ext cx="5892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14</a:t>
            </a:r>
            <a:endParaRPr/>
          </a:p>
        </p:txBody>
      </p:sp>
      <p:pic>
        <p:nvPicPr>
          <p:cNvPr id="199" name="Google Shape;199;p21" title="Screenshot_2026-05-21_023602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4075" y="471950"/>
            <a:ext cx="3471100" cy="472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 txBox="1"/>
          <p:nvPr>
            <p:ph type="title"/>
          </p:nvPr>
        </p:nvSpPr>
        <p:spPr>
          <a:xfrm>
            <a:off x="2000525" y="262025"/>
            <a:ext cx="49644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2600" u="sng">
                <a:latin typeface="Times"/>
                <a:ea typeface="Times"/>
                <a:cs typeface="Times"/>
                <a:sym typeface="Times"/>
              </a:rPr>
              <a:t>System Architecture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36575" y="990600"/>
            <a:ext cx="8097600" cy="3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1. Document Input</a:t>
            </a:r>
            <a:endParaRPr b="1">
              <a:solidFill>
                <a:schemeClr val="dk1"/>
              </a:solidFill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 Accepts multi-format files — PDF, PPTX, and DOCX — as raw input to the pipeline.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2. Layout Engine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IBM Docling parses reading order, structural headers, and tables. Images are detected as PictureItem objects and routed to Meta Llama 4 Scout (VLM), which converts them into structured text descriptions.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3. Tree Builder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Document sections and headers are mapped into a nested JSON hierarchy. Each child node automatically inherits contextual metadata — page range, position index, and parent heading — from its parent node.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4. Embed &amp; Store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Every node's text is embedded using Jina AI Embeddings v5 (supports up to 8192 tokens). The resulting vectors along with their metadata are upserted into ChromaDB for persistent storage.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3F3C3D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06" name="Google Shape;2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" y="3263049"/>
            <a:ext cx="1955074" cy="18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/>
          <p:nvPr/>
        </p:nvSpPr>
        <p:spPr>
          <a:xfrm>
            <a:off x="2270707" y="4732090"/>
            <a:ext cx="5836603" cy="0"/>
          </a:xfrm>
          <a:custGeom>
            <a:rect b="b" l="l" r="r" t="t"/>
            <a:pathLst>
              <a:path extrusionOk="0" h="120000"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noFill/>
          <a:ln cap="flat" cmpd="sng" w="9525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2"/>
          <p:cNvSpPr txBox="1"/>
          <p:nvPr>
            <p:ph idx="12" type="sldNum"/>
          </p:nvPr>
        </p:nvSpPr>
        <p:spPr>
          <a:xfrm>
            <a:off x="8216265" y="4503420"/>
            <a:ext cx="5892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15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>
            <p:ph type="title"/>
          </p:nvPr>
        </p:nvSpPr>
        <p:spPr>
          <a:xfrm>
            <a:off x="2000525" y="262025"/>
            <a:ext cx="49644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2600" u="sng">
                <a:latin typeface="Times"/>
                <a:ea typeface="Times"/>
                <a:cs typeface="Times"/>
                <a:sym typeface="Times"/>
              </a:rPr>
              <a:t>System Architecture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536575" y="990600"/>
            <a:ext cx="8097600" cy="3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Retrieval Engine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incoming user query is decomposed into individual sub-questions by gpt-oss-120b running on Groq. Each sub-question is independently embedded and matched against ChromaDB using a cosine distance threshold filter. Surviving nodes are ranked by a frequency-weighted engine to identify the most relevant sections.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LLM Inference &amp; Response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Top-ranked nodes are assembled in reading order and injected into the LLM's context window. Groq (gpt-oss-120b) generates the final answer, strictly grounded in retrieved content, with page-level citations appended to every statement.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" y="3263049"/>
            <a:ext cx="1955074" cy="18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/>
          <p:nvPr/>
        </p:nvSpPr>
        <p:spPr>
          <a:xfrm>
            <a:off x="2270707" y="4732090"/>
            <a:ext cx="5836603" cy="0"/>
          </a:xfrm>
          <a:custGeom>
            <a:rect b="b" l="l" r="r" t="t"/>
            <a:pathLst>
              <a:path extrusionOk="0" h="120000"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noFill/>
          <a:ln cap="flat" cmpd="sng" w="9525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16265" y="4503420"/>
            <a:ext cx="5892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16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2000525" y="262025"/>
            <a:ext cx="49644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2600" u="sng">
                <a:latin typeface="Times"/>
                <a:ea typeface="Times"/>
                <a:cs typeface="Times"/>
                <a:sym typeface="Times"/>
              </a:rPr>
              <a:t>Outcomes</a:t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707875" y="1333925"/>
            <a:ext cx="8097600" cy="3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Context-intact document retrieval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visual data loss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Hallucination-free responses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enterprise-grade architecture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 and swappable codebase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4" name="Google Shape;2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" y="3263049"/>
            <a:ext cx="1955074" cy="18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/>
          <p:nvPr/>
        </p:nvSpPr>
        <p:spPr>
          <a:xfrm>
            <a:off x="2270707" y="4732090"/>
            <a:ext cx="5836603" cy="0"/>
          </a:xfrm>
          <a:custGeom>
            <a:rect b="b" l="l" r="r" t="t"/>
            <a:pathLst>
              <a:path extrusionOk="0" h="120000"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noFill/>
          <a:ln cap="flat" cmpd="sng" w="9525">
            <a:solidFill>
              <a:srgbClr val="535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4"/>
          <p:cNvSpPr txBox="1"/>
          <p:nvPr>
            <p:ph idx="12" type="sldNum"/>
          </p:nvPr>
        </p:nvSpPr>
        <p:spPr>
          <a:xfrm>
            <a:off x="8216265" y="4503420"/>
            <a:ext cx="5892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17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>
            <p:ph type="title"/>
          </p:nvPr>
        </p:nvSpPr>
        <p:spPr>
          <a:xfrm>
            <a:off x="1259530" y="2091065"/>
            <a:ext cx="67203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b="1" lang="en-US" sz="6600">
                <a:latin typeface="Times"/>
                <a:ea typeface="Times"/>
                <a:cs typeface="Times"/>
                <a:sym typeface="Times"/>
              </a:rPr>
              <a:t>   THANK YOU</a:t>
            </a:r>
            <a:endParaRPr/>
          </a:p>
        </p:txBody>
      </p:sp>
      <p:pic>
        <p:nvPicPr>
          <p:cNvPr id="232" name="Google Shape;2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21" y="3263049"/>
            <a:ext cx="1955074" cy="188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